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A90432"/>
                </a:solidFill>
              </a:defRPr>
            </a:pPr>
            <a:r>
              <a:t>GsuNET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Üniversite Kulüp ve Etkinlik Yönetim 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E7D32"/>
                </a:solidFill>
              </a:defRPr>
            </a:pPr>
            <a:r>
              <a:t>AI-Powered • Multi-University •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01579B"/>
                </a:solidFill>
              </a:defRPr>
            </a:pPr>
            <a:r>
              <a:t>Endüstri Müh.: Başar Saraç, Berkay Çadırcı</a:t>
            </a:r>
          </a:p>
          <a:p>
            <a:pPr algn="ctr">
              <a:defRPr sz="1400">
                <a:solidFill>
                  <a:srgbClr val="E65100"/>
                </a:solidFill>
              </a:defRPr>
            </a:pPr>
            <a:r>
              <a:t>Bilgisayar Müh.: Hamza Yakar, Mert Samet Kayacıoğlu, Edipcan Erol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INF493 - Galatasaray Üniversitesi - Aralık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90432"/>
                </a:solidFill>
              </a:defRPr>
            </a:pPr>
            <a:r>
              <a:t>Problem &amp; 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800" b="1">
                <a:solidFill>
                  <a:srgbClr val="C62828"/>
                </a:solidFill>
              </a:defRPr>
            </a:pPr>
            <a:r>
              <a:t>❌ PROBLEM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GSÜ'de etkinlik yönetimi dağınık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E-mail, WhatsApp, Excel karmaşası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Kulüpler sponsora erişemiyor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Google Calendar yetersiz (approval, registration, tracking yok)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Ölçeklenebilir değil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800" b="1">
                <a:solidFill>
                  <a:srgbClr val="2E7D32"/>
                </a:solidFill>
              </a:defRPr>
            </a:pPr>
            <a:r>
              <a:t>✅ GSUNET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Merkezi platform (tek kaynak)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Etkinlik onay sistemi (advisor)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AI ile akıllı sponsor eşleştirme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Kayıt + bildirim + oda rezervasyonu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Multi-university SaaS (100K+ user)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926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BC02D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90432"/>
                </a:solidFill>
              </a:defRPr>
            </a:pPr>
            <a:r>
              <a:t>Fizibilite &amp; QFD Analizi (Özet)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01579B"/>
                </a:solidFill>
              </a:defRPr>
            </a:pPr>
            <a:r>
              <a:t>📊 Fizibilite</a:t>
            </a:r>
          </a:p>
          <a:p>
            <a:pPr>
              <a:spcBef>
                <a:spcPts val="600"/>
              </a:spcBef>
              <a:defRPr sz="1500"/>
            </a:pPr>
            <a:r>
              <a:t>• Teknik: FastAPI + React stack (proven)</a:t>
            </a:r>
          </a:p>
          <a:p>
            <a:pPr>
              <a:spcBef>
                <a:spcPts val="600"/>
              </a:spcBef>
              <a:defRPr sz="1500"/>
            </a:pPr>
            <a:r>
              <a:t>• Ekonomik: ₺2K/ay (pilot) → ₺4.5M gelir (3 yıl)</a:t>
            </a:r>
          </a:p>
          <a:p>
            <a:pPr>
              <a:spcBef>
                <a:spcPts val="600"/>
              </a:spcBef>
              <a:defRPr sz="1500"/>
            </a:pPr>
            <a:r>
              <a:t>• Hedef: 1K users (GSÜ) → 100K (20 üniversite)</a:t>
            </a:r>
          </a:p>
          <a:p>
            <a:pPr>
              <a:spcBef>
                <a:spcPts val="600"/>
              </a:spcBef>
              <a:defRPr sz="1500"/>
            </a:pPr>
            <a:r>
              <a:t>• Geliştirme: 12 hafta (tamamlandı)</a:t>
            </a:r>
          </a:p>
          <a:p>
            <a:pPr>
              <a:spcBef>
                <a:spcPts val="600"/>
              </a:spcBef>
              <a:defRPr sz="1500"/>
            </a:pPr>
            <a:r>
              <a:t>• ROI: %85+ (enterprise licensing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 b="1">
                <a:solidFill>
                  <a:srgbClr val="E65100"/>
                </a:solidFill>
              </a:defRPr>
            </a:pPr>
            <a:r>
              <a:t>🏠 QFD (Kalite Evi)</a:t>
            </a:r>
          </a:p>
          <a:p>
            <a:pPr>
              <a:spcBef>
                <a:spcPts val="400"/>
              </a:spcBef>
              <a:defRPr sz="1500"/>
            </a:pPr>
            <a:r>
              <a:t>Kullanıcı İhtiyaçları:</a:t>
            </a:r>
          </a:p>
          <a:p>
            <a:pPr>
              <a:spcBef>
                <a:spcPts val="400"/>
              </a:spcBef>
              <a:defRPr sz="1500"/>
            </a:pPr>
            <a:r>
              <a:t>  → Kolay etkinlik oluşturma (9/10)</a:t>
            </a:r>
          </a:p>
          <a:p>
            <a:pPr>
              <a:spcBef>
                <a:spcPts val="400"/>
              </a:spcBef>
              <a:defRPr sz="1500"/>
            </a:pPr>
            <a:r>
              <a:t>  → Hızlı kayıt sistemi (9/10)</a:t>
            </a:r>
          </a:p>
          <a:p>
            <a:pPr>
              <a:spcBef>
                <a:spcPts val="400"/>
              </a:spcBef>
              <a:defRPr sz="1500"/>
            </a:pPr>
            <a:r>
              <a:t>  → Sponsora erişim (8/10)</a:t>
            </a:r>
          </a:p>
          <a:p>
            <a:pPr>
              <a:spcBef>
                <a:spcPts val="400"/>
              </a:spcBef>
              <a:defRPr sz="1500"/>
            </a:pPr>
          </a:p>
          <a:p>
            <a:pPr>
              <a:spcBef>
                <a:spcPts val="400"/>
              </a:spcBef>
              <a:defRPr sz="1500"/>
            </a:pPr>
            <a:r>
              <a:t>Teknik Gereksinimler:</a:t>
            </a:r>
          </a:p>
          <a:p>
            <a:pPr>
              <a:spcBef>
                <a:spcPts val="400"/>
              </a:spcBef>
              <a:defRPr sz="1500"/>
            </a:pPr>
            <a:r>
              <a:t>  → Async processing (ARQ)</a:t>
            </a:r>
          </a:p>
          <a:p>
            <a:pPr>
              <a:spcBef>
                <a:spcPts val="400"/>
              </a:spcBef>
              <a:defRPr sz="1500"/>
            </a:pPr>
            <a:r>
              <a:t>  → AI matching (Gemma/ChatGPT)</a:t>
            </a:r>
          </a:p>
          <a:p>
            <a:pPr>
              <a:spcBef>
                <a:spcPts val="400"/>
              </a:spcBef>
              <a:defRPr sz="1500"/>
            </a:pPr>
            <a:r>
              <a:t>  → RBAC security (JWT)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* Detaylı Gantt şeması, QFD matrisi ve fizibilite analizi raporda mevcuttur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90432"/>
                </a:solidFill>
              </a:defRPr>
            </a:pPr>
            <a:r>
              <a:t>Teknoloji Seçimleri - NEDEN?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2E7D32"/>
                </a:solidFill>
              </a:defRPr>
            </a:pPr>
            <a:r>
              <a:t>⚡ FastAPI</a:t>
            </a:r>
          </a:p>
          <a:p>
            <a:pPr>
              <a:spcBef>
                <a:spcPts val="500"/>
              </a:spcBef>
              <a:defRPr sz="1600"/>
            </a:pPr>
            <a:r>
              <a:t>✓ 18K req/s</a:t>
            </a:r>
          </a:p>
          <a:p>
            <a:pPr>
              <a:spcBef>
                <a:spcPts val="500"/>
              </a:spcBef>
              <a:defRPr sz="1600"/>
            </a:pPr>
            <a:r>
              <a:t>✓ vs Django: 6x faster</a:t>
            </a:r>
          </a:p>
          <a:p>
            <a:pPr>
              <a:spcBef>
                <a:spcPts val="500"/>
              </a:spcBef>
              <a:defRPr sz="1600"/>
            </a:pPr>
            <a:r>
              <a:t>✓ vs Flask: 7.2x faster</a:t>
            </a:r>
          </a:p>
          <a:p>
            <a:pPr>
              <a:spcBef>
                <a:spcPts val="500"/>
              </a:spcBef>
              <a:defRPr sz="1600"/>
            </a:pPr>
            <a:r>
              <a:t>✓ Native async</a:t>
            </a:r>
          </a:p>
          <a:p>
            <a:pPr>
              <a:spcBef>
                <a:spcPts val="500"/>
              </a:spcBef>
              <a:defRPr sz="1600"/>
            </a:pPr>
            <a:r>
              <a:t>✓ Auto API docs</a:t>
            </a:r>
          </a:p>
          <a:p>
            <a:pPr>
              <a:spcBef>
                <a:spcPts val="500"/>
              </a:spcBef>
              <a:defRPr sz="1600"/>
            </a:pPr>
            <a:r>
              <a:t>✓ Type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18872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01579B"/>
                </a:solidFill>
              </a:defRPr>
            </a:pPr>
            <a:r>
              <a:t>🗄️ PostgreSQL</a:t>
            </a:r>
          </a:p>
          <a:p>
            <a:pPr>
              <a:spcBef>
                <a:spcPts val="500"/>
              </a:spcBef>
              <a:defRPr sz="1600"/>
            </a:pPr>
            <a:r>
              <a:t>✓ 10K+ TPS</a:t>
            </a:r>
          </a:p>
          <a:p>
            <a:pPr>
              <a:spcBef>
                <a:spcPts val="500"/>
              </a:spcBef>
              <a:defRPr sz="1600"/>
            </a:pPr>
            <a:r>
              <a:t>✓ Full ACID</a:t>
            </a:r>
          </a:p>
          <a:p>
            <a:pPr>
              <a:spcBef>
                <a:spcPts val="500"/>
              </a:spcBef>
              <a:defRPr sz="1600"/>
            </a:pPr>
            <a:r>
              <a:t>✓ JSONB support</a:t>
            </a:r>
          </a:p>
          <a:p>
            <a:pPr>
              <a:spcBef>
                <a:spcPts val="500"/>
              </a:spcBef>
              <a:defRPr sz="1600"/>
            </a:pPr>
            <a:r>
              <a:t>✓ Advanced indexes</a:t>
            </a:r>
          </a:p>
          <a:p>
            <a:pPr>
              <a:spcBef>
                <a:spcPts val="500"/>
              </a:spcBef>
              <a:defRPr sz="1600"/>
            </a:pPr>
            <a:r>
              <a:t>✓ Foreign keys</a:t>
            </a:r>
          </a:p>
          <a:p>
            <a:pPr>
              <a:spcBef>
                <a:spcPts val="500"/>
              </a:spcBef>
              <a:defRPr sz="1600"/>
            </a:pPr>
            <a:r>
              <a:t>✓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25603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 b="1">
                <a:solidFill>
                  <a:srgbClr val="E65100"/>
                </a:solidFill>
              </a:defRPr>
            </a:pPr>
            <a:r>
              <a:t>🔄 Redis+ARQ</a:t>
            </a:r>
          </a:p>
          <a:p>
            <a:pPr>
              <a:spcBef>
                <a:spcPts val="500"/>
              </a:spcBef>
              <a:defRPr sz="1600"/>
            </a:pPr>
            <a:r>
              <a:t>✓ 100K msg/s</a:t>
            </a:r>
          </a:p>
          <a:p>
            <a:pPr>
              <a:spcBef>
                <a:spcPts val="500"/>
              </a:spcBef>
              <a:defRPr sz="1600"/>
            </a:pPr>
            <a:r>
              <a:t>✓ &lt;1ms latency</a:t>
            </a:r>
          </a:p>
          <a:p>
            <a:pPr>
              <a:spcBef>
                <a:spcPts val="500"/>
              </a:spcBef>
              <a:defRPr sz="1600"/>
            </a:pPr>
            <a:r>
              <a:t>✓ Cache + Queue</a:t>
            </a:r>
          </a:p>
          <a:p>
            <a:pPr>
              <a:spcBef>
                <a:spcPts val="500"/>
              </a:spcBef>
              <a:defRPr sz="1600"/>
            </a:pPr>
            <a:r>
              <a:t>✓ Async tasks</a:t>
            </a:r>
          </a:p>
          <a:p>
            <a:pPr>
              <a:spcBef>
                <a:spcPts val="500"/>
              </a:spcBef>
              <a:defRPr sz="1600"/>
            </a:pPr>
            <a:r>
              <a:t>✓ Cron jobs</a:t>
            </a:r>
          </a:p>
          <a:p>
            <a:pPr>
              <a:spcBef>
                <a:spcPts val="500"/>
              </a:spcBef>
              <a:defRPr sz="1600"/>
            </a:pPr>
            <a:r>
              <a:t>✓ vs Kafka: simpler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Kaynak: TechEmpower Benchmarks Round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90432"/>
                </a:solidFill>
              </a:defRPr>
            </a:pPr>
            <a:r>
              <a:t>🚀 Yenilikçi Özellikler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800" b="1">
                <a:solidFill>
                  <a:srgbClr val="FBC02D"/>
                </a:solidFill>
              </a:defRPr>
            </a:pPr>
            <a:r>
              <a:t>🤖 AI-Powered Sponsor Matching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Sponsor manifestosu + kulüp profilleri → AI modeli (Gemma 7B / ChatGPT) → Akıllı eşleştirme (0-100 skor)</a:t>
            </a:r>
          </a:p>
          <a:p>
            <a:pPr>
              <a:spcBef>
                <a:spcPts val="600"/>
              </a:spcBef>
              <a:defRPr sz="1400">
                <a:solidFill>
                  <a:srgbClr val="2E7D32"/>
                </a:solidFill>
              </a:defRPr>
            </a:pPr>
            <a:r>
              <a:t>💰 %10 komisyon gelir modeli  •  ⚡ 50-70ms latency (Gemma local)  •  💸 ₺30/ay (ChatGPT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4114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 b="1">
                <a:solidFill>
                  <a:srgbClr val="01579B"/>
                </a:solidFill>
              </a:defRPr>
            </a:pPr>
            <a:r>
              <a:t>✨ Core Features</a:t>
            </a:r>
          </a:p>
          <a:p>
            <a:pPr>
              <a:spcBef>
                <a:spcPts val="500"/>
              </a:spcBef>
              <a:defRPr sz="1500"/>
            </a:pPr>
            <a:r>
              <a:t>• Etkinlik onay sistemi (3-tier approval)</a:t>
            </a:r>
          </a:p>
          <a:p>
            <a:pPr>
              <a:spcBef>
                <a:spcPts val="500"/>
              </a:spcBef>
              <a:defRPr sz="1500"/>
            </a:pPr>
            <a:r>
              <a:t>• Akıllı oda önerisi (kapasite-based)</a:t>
            </a:r>
          </a:p>
          <a:p>
            <a:pPr>
              <a:spcBef>
                <a:spcPts val="500"/>
              </a:spcBef>
              <a:defRPr sz="1500"/>
            </a:pPr>
            <a:r>
              <a:t>• Background notifications (ARQ async)</a:t>
            </a:r>
          </a:p>
          <a:p>
            <a:pPr>
              <a:spcBef>
                <a:spcPts val="500"/>
              </a:spcBef>
              <a:defRPr sz="1500"/>
            </a:pPr>
            <a:r>
              <a:t>• Kulüp üyelik yönetimi</a:t>
            </a:r>
          </a:p>
          <a:p>
            <a:pPr>
              <a:spcBef>
                <a:spcPts val="500"/>
              </a:spcBef>
              <a:defRPr sz="1500"/>
            </a:pPr>
            <a:r>
              <a:t>• Haftalık takvim (room scheduling)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834640"/>
            <a:ext cx="3931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 b="1">
                <a:solidFill>
                  <a:srgbClr val="E65100"/>
                </a:solidFill>
              </a:defRPr>
            </a:pPr>
            <a:r>
              <a:t>🔐 Security &amp; Quality</a:t>
            </a:r>
          </a:p>
          <a:p>
            <a:pPr>
              <a:spcBef>
                <a:spcPts val="500"/>
              </a:spcBef>
              <a:defRPr sz="1500"/>
            </a:pPr>
            <a:r>
              <a:t>• 4-tier RBAC (Student/Manager/Advisor/Admin)</a:t>
            </a:r>
          </a:p>
          <a:p>
            <a:pPr>
              <a:spcBef>
                <a:spcPts val="500"/>
              </a:spcBef>
              <a:defRPr sz="1500"/>
            </a:pPr>
            <a:r>
              <a:t>• JWT authentication (7-day expiry)</a:t>
            </a:r>
          </a:p>
          <a:p>
            <a:pPr>
              <a:spcBef>
                <a:spcPts val="500"/>
              </a:spcBef>
              <a:defRPr sz="1500"/>
            </a:pPr>
            <a:r>
              <a:t>• SQL injection prevention (ORM)</a:t>
            </a:r>
          </a:p>
          <a:p>
            <a:pPr>
              <a:spcBef>
                <a:spcPts val="500"/>
              </a:spcBef>
              <a:defRPr sz="1500"/>
            </a:pPr>
            <a:r>
              <a:t>• Multi-language (TR/EN/FR - 458 keys)</a:t>
            </a:r>
          </a:p>
          <a:p>
            <a:pPr>
              <a:spcBef>
                <a:spcPts val="500"/>
              </a:spcBef>
              <a:defRPr sz="1500"/>
            </a:pPr>
            <a:r>
              <a:t>• Responsive design (mobile-first)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90432"/>
                </a:solidFill>
              </a:defRPr>
            </a:pPr>
            <a:r>
              <a:t>📈 Ölçeklenebilirlik Vizyonu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BC02D"/>
                </a:solidFill>
              </a:defRPr>
            </a:pPr>
            <a:r>
              <a:t>GSUNET, sadece GSÜ için değil — tüm Türkiye üniversiteleri için SaaS 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 b="1">
                <a:solidFill>
                  <a:srgbClr val="333333"/>
                </a:solidFill>
              </a:defRPr>
            </a:pPr>
            <a:r>
              <a:t>Kullanıcı Ölçeği          Üniversite Sayısı      Altyapı                    Yıllık Gelir</a:t>
            </a:r>
          </a:p>
          <a:p>
            <a:pPr>
              <a:spcBef>
                <a:spcPts val="600"/>
              </a:spcBef>
              <a:defRPr sz="1300"/>
            </a:pPr>
            <a:r>
              <a:t>• 1K-2K (Pilot)             1 (GSÜ)                      1 server                 ₺0 (free tier)</a:t>
            </a:r>
          </a:p>
          <a:p>
            <a:pPr>
              <a:spcBef>
                <a:spcPts val="600"/>
              </a:spcBef>
              <a:defRPr sz="1300"/>
            </a:pPr>
            <a:r>
              <a:t>• 10K-15K (Regional)        5 (Boğaziçi, İTÜ, ODTÜ...)   4 servers + LB           ₺375K</a:t>
            </a:r>
          </a:p>
          <a:p>
            <a:pPr>
              <a:spcBef>
                <a:spcPts val="600"/>
              </a:spcBef>
              <a:defRPr sz="1300" b="1">
                <a:solidFill>
                  <a:srgbClr val="2E7D32"/>
                </a:solidFill>
              </a:defRPr>
            </a:pPr>
            <a:r>
              <a:t>• 50K-100K (National)       20+ üniversite               15-20 servers + K8s      ₺1.5M</a:t>
            </a:r>
          </a:p>
          <a:p>
            <a:pPr>
              <a:spcBef>
                <a:spcPts val="600"/>
              </a:spcBef>
              <a:defRPr sz="1300" b="1">
                <a:solidFill>
                  <a:srgbClr val="2E7D32"/>
                </a:solidFill>
              </a:defRPr>
            </a:pPr>
            <a:r>
              <a:t>• 100K+ (Scale)             Türkiye çapında (200+ potansiyel) Auto-scaling             ₺5M+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01579B"/>
                </a:solidFill>
              </a:defRPr>
            </a:pPr>
            <a:r>
              <a:t>🏗️ Multi-Tenant Architecture Avantajları: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✓ Shared infrastructure (cost efficiency)  •  ✓ 5 dakikada yeni tenant  •  ✓ Data isolation (tenant_id)  •  ✓ 100K+ user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2000"/>
              </a:spcAft>
              <a:defRPr sz="8000" b="1">
                <a:solidFill>
                  <a:srgbClr val="A90432"/>
                </a:solidFill>
              </a:defRPr>
            </a:pPr>
            <a:r>
              <a:t>🎬 DEMO</a:t>
            </a:r>
          </a:p>
          <a:p>
            <a:pPr algn="ctr">
              <a:defRPr sz="3200">
                <a:solidFill>
                  <a:srgbClr val="333333"/>
                </a:solidFill>
              </a:defRPr>
            </a:pPr>
            <a:r>
              <a:t>Canlı Sistem Gösterimi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7548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📌 Etkinlik oluşturma  →  Onay sistemi  →  Kayıt  →  Bildirimler  →  AI sponsor eşleştirme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A90432"/>
                </a:solidFill>
              </a:defRPr>
            </a:pPr>
            <a:r>
              <a:t>Teşekkürler!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Sorularınız için hazırız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800"/>
              </a:spcAft>
              <a:defRPr sz="2000" b="1">
                <a:solidFill>
                  <a:srgbClr val="01579B"/>
                </a:solidFill>
              </a:defRPr>
            </a:pPr>
            <a:r>
              <a:t>📊 GSUNET Özet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53 API endpoints  •  10 database tables  •  16 pages  •  458 translation keys  •  100K+ users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66666"/>
                </a:solidFill>
              </a:defRPr>
            </a:pPr>
            <a:r>
              <a:t>Galatasaray Üniversitesi</a:t>
            </a:r>
          </a:p>
          <a:p>
            <a:r>
              <a:t>Mühendislik ve Teknoloji Fakültesi</a:t>
            </a:r>
          </a:p>
          <a:p>
            <a:r>
              <a:t>INF493 Araştırma Yöntemleri - 22 Aralık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