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90432"/>
                </a:solidFill>
              </a:defRPr>
            </a:pPr>
            <a:r>
              <a:t>GsuNET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Galatasaray University Networking and Event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Final Project Presentation - Completed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01579B"/>
                </a:solidFill>
              </a:defRPr>
            </a:pPr>
            <a:r>
              <a:t>Endüstri Mühendisliği: Başar Saraç, Berkay Çadırcı</a:t>
            </a:r>
          </a:p>
          <a:p>
            <a:pPr algn="ctr">
              <a:defRPr sz="1400">
                <a:solidFill>
                  <a:srgbClr val="E65100"/>
                </a:solidFill>
              </a:defRPr>
            </a:pPr>
            <a:r>
              <a:t>Bilgisayar Mühendisliği: Hamza Yakar, Mert Samet Kayacıoğlu, Edipcan Erol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Galatasaray Üniversitesi - Aralık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Proje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✅ Tam işlevsel bir kulüp ve etkinlik yönetim platformu geliştirildi</a:t>
            </a:r>
          </a:p>
          <a:p>
            <a:pPr>
              <a:spcBef>
                <a:spcPts val="600"/>
              </a:spcBef>
              <a:defRPr sz="1800"/>
            </a:pPr>
            <a:r>
              <a:t>✅ React frontend + FastAPI backend ile modern web uygulaması</a:t>
            </a:r>
          </a:p>
          <a:p>
            <a:pPr>
              <a:spcBef>
                <a:spcPts val="600"/>
              </a:spcBef>
              <a:defRPr sz="1800"/>
            </a:pPr>
            <a:r>
              <a:t>✅ PostgreSQL veritabanı + Redis cache/queue sistemi</a:t>
            </a:r>
          </a:p>
          <a:p>
            <a:pPr>
              <a:spcBef>
                <a:spcPts val="600"/>
              </a:spcBef>
              <a:defRPr sz="1800"/>
            </a:pPr>
            <a:r>
              <a:t>✅ 4 farklı kullanıcı rolü (Student, Club Manager, Advisor, Admin)</a:t>
            </a:r>
          </a:p>
          <a:p>
            <a:pPr>
              <a:spcBef>
                <a:spcPts val="600"/>
              </a:spcBef>
              <a:defRPr sz="1800"/>
            </a:pPr>
            <a:r>
              <a:t>✅ Rol tabanlı yetkilendirme (RBAC) ve JWT authentication</a:t>
            </a:r>
          </a:p>
          <a:p>
            <a:pPr>
              <a:spcBef>
                <a:spcPts val="600"/>
              </a:spcBef>
              <a:defRPr sz="1800"/>
            </a:pPr>
            <a:r>
              <a:t>✅ Background task processing (ARQ) ve cron jobs</a:t>
            </a:r>
          </a:p>
          <a:p>
            <a:pPr>
              <a:spcBef>
                <a:spcPts val="600"/>
              </a:spcBef>
              <a:defRPr sz="1800"/>
            </a:pPr>
            <a:r>
              <a:t>✅ Responsive tasarım ve çoklu dil desteği (TR/EN/FR)</a:t>
            </a:r>
          </a:p>
          <a:p>
            <a:pPr>
              <a:spcBef>
                <a:spcPts val="600"/>
              </a:spcBef>
              <a:defRPr sz="1800"/>
            </a:pPr>
            <a:r>
              <a:t>✅ Docker containerization ile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Tamamlanan Temel Özellikler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Etkinlik ve Kulüp Yönetimi</a:t>
            </a:r>
          </a:p>
          <a:p>
            <a:pPr>
              <a:spcBef>
                <a:spcPts val="400"/>
              </a:spcBef>
              <a:defRPr sz="1600"/>
            </a:pPr>
            <a:r>
              <a:t>• Etkinlik oluşturma ve yönetimi</a:t>
            </a:r>
          </a:p>
          <a:p>
            <a:pPr>
              <a:spcBef>
                <a:spcPts val="400"/>
              </a:spcBef>
              <a:defRPr sz="1600"/>
            </a:pPr>
            <a:r>
              <a:t>• Etkinlik onay sistemi (Advisor)</a:t>
            </a:r>
          </a:p>
          <a:p>
            <a:pPr>
              <a:spcBef>
                <a:spcPts val="400"/>
              </a:spcBef>
              <a:defRPr sz="1600"/>
            </a:pPr>
            <a:r>
              <a:t>• Etkinliklere kayıt olma</a:t>
            </a:r>
          </a:p>
          <a:p>
            <a:pPr>
              <a:spcBef>
                <a:spcPts val="400"/>
              </a:spcBef>
              <a:defRPr sz="1600"/>
            </a:pPr>
            <a:r>
              <a:t>• Kulüpleri takip etme</a:t>
            </a:r>
          </a:p>
          <a:p>
            <a:pPr>
              <a:spcBef>
                <a:spcPts val="400"/>
              </a:spcBef>
              <a:defRPr sz="1600"/>
            </a:pPr>
            <a:r>
              <a:t>• Kulüp üyelik talepleri</a:t>
            </a:r>
          </a:p>
          <a:p>
            <a:pPr>
              <a:spcBef>
                <a:spcPts val="400"/>
              </a:spcBef>
              <a:defRPr sz="1600"/>
            </a:pPr>
            <a:r>
              <a:t>• Sadece üyelere özel etkinlikler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Sistem Özellikleri</a:t>
            </a:r>
          </a:p>
          <a:p>
            <a:pPr>
              <a:spcBef>
                <a:spcPts val="400"/>
              </a:spcBef>
              <a:defRPr sz="1600"/>
            </a:pPr>
            <a:r>
              <a:t>• Bildirim sistemi (event reminders)</a:t>
            </a:r>
          </a:p>
          <a:p>
            <a:pPr>
              <a:spcBef>
                <a:spcPts val="400"/>
              </a:spcBef>
              <a:defRPr sz="1600"/>
            </a:pPr>
            <a:r>
              <a:t>• Oda/salon rezervasyonu</a:t>
            </a:r>
          </a:p>
          <a:p>
            <a:pPr>
              <a:spcBef>
                <a:spcPts val="400"/>
              </a:spcBef>
              <a:defRPr sz="1600"/>
            </a:pPr>
            <a:r>
              <a:t>• Haftalık program takvimi</a:t>
            </a:r>
          </a:p>
          <a:p>
            <a:pPr>
              <a:spcBef>
                <a:spcPts val="400"/>
              </a:spcBef>
              <a:defRPr sz="1600"/>
            </a:pPr>
            <a:r>
              <a:t>• Kullanıcı yönetimi (Admin)</a:t>
            </a:r>
          </a:p>
          <a:p>
            <a:pPr>
              <a:spcBef>
                <a:spcPts val="400"/>
              </a:spcBef>
              <a:defRPr sz="1600"/>
            </a:pPr>
            <a:r>
              <a:t>• Sponsorluk yönetimi</a:t>
            </a:r>
          </a:p>
          <a:p>
            <a:pPr>
              <a:spcBef>
                <a:spcPts val="400"/>
              </a:spcBef>
              <a:defRPr sz="1600"/>
            </a:pPr>
            <a:r>
              <a:t>• Çoklu dil desteği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Sistem Mimarisi - Gerçekleşen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🏗️ Three-Tier Architecture (Client-Server Model)</a:t>
            </a:r>
          </a:p>
          <a:p>
            <a:pPr>
              <a:spcBef>
                <a:spcPts val="600"/>
              </a:spcBef>
              <a:defRPr sz="1800"/>
            </a:pPr>
            <a:r>
              <a:t>⚛️ Frontend: React 19.x + Vite + TailwindCSS + React Router</a:t>
            </a:r>
          </a:p>
          <a:p>
            <a:pPr>
              <a:spcBef>
                <a:spcPts val="600"/>
              </a:spcBef>
              <a:defRPr sz="1800"/>
            </a:pPr>
            <a:r>
              <a:t>🚀 Backend: FastAPI 0.104.1 + Uvicorn (async ASGI server)</a:t>
            </a:r>
          </a:p>
          <a:p>
            <a:pPr>
              <a:spcBef>
                <a:spcPts val="600"/>
              </a:spcBef>
              <a:defRPr sz="1800"/>
            </a:pPr>
            <a:r>
              <a:t>💾 Database: PostgreSQL 15 + SQLAlchemy ORM + Alembic migrations</a:t>
            </a:r>
          </a:p>
          <a:p>
            <a:pPr>
              <a:spcBef>
                <a:spcPts val="600"/>
              </a:spcBef>
              <a:defRPr sz="1800"/>
            </a:pPr>
            <a:r>
              <a:t>🔄 Cache/Queue: Redis 8.4 + ARQ (async background tasks)</a:t>
            </a:r>
          </a:p>
          <a:p>
            <a:pPr>
              <a:spcBef>
                <a:spcPts val="600"/>
              </a:spcBef>
              <a:defRPr sz="1800"/>
            </a:pPr>
            <a:r>
              <a:t>🔐 Security: JWT authentication, bcrypt password hashing, RBAC</a:t>
            </a:r>
          </a:p>
          <a:p>
            <a:pPr>
              <a:spcBef>
                <a:spcPts val="600"/>
              </a:spcBef>
              <a:defRPr sz="1800"/>
            </a:pPr>
            <a:r>
              <a:t>📦 Deployment: Docker + Docker Compose (5 containers)</a:t>
            </a:r>
          </a:p>
          <a:p>
            <a:pPr>
              <a:spcBef>
                <a:spcPts val="600"/>
              </a:spcBef>
              <a:defRPr sz="1800"/>
            </a:pPr>
            <a:r>
              <a:t>🌐 API Documentation: OpenAPI/Swagger (auto-generated)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Kullanılan Teknolojiler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Frontend Stack</a:t>
            </a:r>
          </a:p>
          <a:p>
            <a:pPr>
              <a:spcBef>
                <a:spcPts val="400"/>
              </a:spcBef>
              <a:defRPr sz="1600"/>
            </a:pPr>
            <a:r>
              <a:t>• React 19.2.0 - UI framework</a:t>
            </a:r>
          </a:p>
          <a:p>
            <a:pPr>
              <a:spcBef>
                <a:spcPts val="400"/>
              </a:spcBef>
              <a:defRPr sz="1600"/>
            </a:pPr>
            <a:r>
              <a:t>• Vite 7.2.4 - Build tool</a:t>
            </a:r>
          </a:p>
          <a:p>
            <a:pPr>
              <a:spcBef>
                <a:spcPts val="400"/>
              </a:spcBef>
              <a:defRPr sz="1600"/>
            </a:pPr>
            <a:r>
              <a:t>• TailwindCSS 4.1.18 - Styling</a:t>
            </a:r>
          </a:p>
          <a:p>
            <a:pPr>
              <a:spcBef>
                <a:spcPts val="400"/>
              </a:spcBef>
              <a:defRPr sz="1600"/>
            </a:pPr>
            <a:r>
              <a:t>• React Router 7.10.1 - Routing</a:t>
            </a:r>
          </a:p>
          <a:p>
            <a:pPr>
              <a:spcBef>
                <a:spcPts val="400"/>
              </a:spcBef>
              <a:defRPr sz="1600"/>
            </a:pPr>
            <a:r>
              <a:t>• Axios 1.13.2 - HTTP client</a:t>
            </a:r>
          </a:p>
          <a:p>
            <a:pPr>
              <a:spcBef>
                <a:spcPts val="400"/>
              </a:spcBef>
              <a:defRPr sz="1600"/>
            </a:pPr>
            <a:r>
              <a:t>• React Hot Toast -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Backend Stack</a:t>
            </a:r>
          </a:p>
          <a:p>
            <a:pPr>
              <a:spcBef>
                <a:spcPts val="400"/>
              </a:spcBef>
              <a:defRPr sz="1600"/>
            </a:pPr>
            <a:r>
              <a:t>• FastAPI 0.104.1 - Web framework</a:t>
            </a:r>
          </a:p>
          <a:p>
            <a:pPr>
              <a:spcBef>
                <a:spcPts val="400"/>
              </a:spcBef>
              <a:defRPr sz="1600"/>
            </a:pPr>
            <a:r>
              <a:t>• PostgreSQL 15 - Database</a:t>
            </a:r>
          </a:p>
          <a:p>
            <a:pPr>
              <a:spcBef>
                <a:spcPts val="400"/>
              </a:spcBef>
              <a:defRPr sz="1600"/>
            </a:pPr>
            <a:r>
              <a:t>• SQLAlchemy 2.0.23 - ORM</a:t>
            </a:r>
          </a:p>
          <a:p>
            <a:pPr>
              <a:spcBef>
                <a:spcPts val="400"/>
              </a:spcBef>
              <a:defRPr sz="1600"/>
            </a:pPr>
            <a:r>
              <a:t>• Redis 8.4 - Cache/Queue</a:t>
            </a:r>
          </a:p>
          <a:p>
            <a:pPr>
              <a:spcBef>
                <a:spcPts val="400"/>
              </a:spcBef>
              <a:defRPr sz="1600"/>
            </a:pPr>
            <a:r>
              <a:t>• ARQ 0.26.1 - Background tasks</a:t>
            </a:r>
          </a:p>
          <a:p>
            <a:pPr>
              <a:spcBef>
                <a:spcPts val="400"/>
              </a:spcBef>
              <a:defRPr sz="1600"/>
            </a:pPr>
            <a:r>
              <a:t>• Pydantic 2.5.0 -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Veritabanı Tasarımı - 10 Tablo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👥 Users - Kullanıcılar ve roller (student/club_manager/advisor/admin)</a:t>
            </a:r>
          </a:p>
          <a:p>
            <a:pPr>
              <a:spcBef>
                <a:spcPts val="600"/>
              </a:spcBef>
              <a:defRPr sz="1800"/>
            </a:pPr>
            <a:r>
              <a:t>🏢 Clubs - Kulüp profilleri ve yöneticileri</a:t>
            </a:r>
          </a:p>
          <a:p>
            <a:pPr>
              <a:spcBef>
                <a:spcPts val="600"/>
              </a:spcBef>
              <a:defRPr sz="1800"/>
            </a:pPr>
            <a:r>
              <a:t>📅 Events - Etkinlikler (status: pending/approved/rejected/cancelled/completed)</a:t>
            </a:r>
          </a:p>
          <a:p>
            <a:pPr>
              <a:spcBef>
                <a:spcPts val="600"/>
              </a:spcBef>
              <a:defRPr sz="1800"/>
            </a:pPr>
            <a:r>
              <a:t>🏫 Rooms - Odalar ve salonlar (kapasite, özellikler)</a:t>
            </a:r>
          </a:p>
          <a:p>
            <a:pPr>
              <a:spcBef>
                <a:spcPts val="600"/>
              </a:spcBef>
              <a:defRPr sz="1800"/>
            </a:pPr>
            <a:r>
              <a:t>📋 RoomSchedule - Oda rezervasyonları ve zaman blokları</a:t>
            </a:r>
          </a:p>
          <a:p>
            <a:pPr>
              <a:spcBef>
                <a:spcPts val="600"/>
              </a:spcBef>
              <a:defRPr sz="1800"/>
            </a:pPr>
            <a:r>
              <a:t>✅ EventRegistration - Kullanıcı-etkinlik kayıtları</a:t>
            </a:r>
          </a:p>
          <a:p>
            <a:pPr>
              <a:spcBef>
                <a:spcPts val="600"/>
              </a:spcBef>
              <a:defRPr sz="1800"/>
            </a:pPr>
            <a:r>
              <a:t>🔔 Notifications - Bildirimler (8 farklı tip)</a:t>
            </a:r>
          </a:p>
          <a:p>
            <a:pPr>
              <a:spcBef>
                <a:spcPts val="600"/>
              </a:spcBef>
              <a:defRPr sz="1800"/>
            </a:pPr>
            <a:r>
              <a:t>🤝 ClubJoinRequest - Kulüp üyelik talepleri</a:t>
            </a:r>
          </a:p>
          <a:p>
            <a:pPr>
              <a:spcBef>
                <a:spcPts val="600"/>
              </a:spcBef>
              <a:defRPr sz="1800"/>
            </a:pPr>
            <a:r>
              <a:t>💼 Sponsorships - Sponsorluk yönetimi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Backend Gerçekleştirimi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✅ RESTful API: 7 ana route modülü (auth, events, clubs, rooms, schedule, notifications, users)</a:t>
            </a:r>
          </a:p>
          <a:p>
            <a:pPr>
              <a:spcBef>
                <a:spcPts val="600"/>
              </a:spcBef>
              <a:defRPr sz="1800"/>
            </a:pPr>
            <a:r>
              <a:t>✅ Authentication: JWT token-based (7-day expiration)</a:t>
            </a:r>
          </a:p>
          <a:p>
            <a:pPr>
              <a:spcBef>
                <a:spcPts val="600"/>
              </a:spcBef>
              <a:defRPr sz="1800"/>
            </a:pPr>
            <a:r>
              <a:t>✅ Authorization: Rol bazlı erişim kontrolü (decorator-based)</a:t>
            </a:r>
          </a:p>
          <a:p>
            <a:pPr>
              <a:spcBef>
                <a:spcPts val="600"/>
              </a:spcBef>
              <a:defRPr sz="1800"/>
            </a:pPr>
            <a:r>
              <a:t>✅ Validation: Pydantic schemas ile input/output validation</a:t>
            </a:r>
          </a:p>
          <a:p>
            <a:pPr>
              <a:spcBef>
                <a:spcPts val="600"/>
              </a:spcBef>
              <a:defRPr sz="1800"/>
            </a:pPr>
            <a:r>
              <a:t>✅ ORM: SQLAlchemy models ve relationships</a:t>
            </a:r>
          </a:p>
          <a:p>
            <a:pPr>
              <a:spcBef>
                <a:spcPts val="600"/>
              </a:spcBef>
              <a:defRPr sz="1800"/>
            </a:pPr>
            <a:r>
              <a:t>✅ Background Tasks: ARQ worker ile asenkron bildirimler</a:t>
            </a:r>
          </a:p>
          <a:p>
            <a:pPr>
              <a:spcBef>
                <a:spcPts val="600"/>
              </a:spcBef>
              <a:defRPr sz="1800"/>
            </a:pPr>
            <a:r>
              <a:t>✅ Scheduled Jobs: Günlük event reminder (cron: 9:00 AM)</a:t>
            </a:r>
          </a:p>
          <a:p>
            <a:pPr>
              <a:spcBef>
                <a:spcPts val="600"/>
              </a:spcBef>
              <a:defRPr sz="1800"/>
            </a:pPr>
            <a:r>
              <a:t>✅ Error Handling: Detaylı HTTP exception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Frontend Gerçekleştirimi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✅ Single Page Application (SPA) - React ile geliştirildi</a:t>
            </a:r>
          </a:p>
          <a:p>
            <a:pPr>
              <a:spcBef>
                <a:spcPts val="600"/>
              </a:spcBef>
              <a:defRPr sz="1800"/>
            </a:pPr>
            <a:r>
              <a:t>✅ Rol bazlı sayfa erişimi ve dinamik navigasyon</a:t>
            </a:r>
          </a:p>
          <a:p>
            <a:pPr>
              <a:spcBef>
                <a:spcPts val="600"/>
              </a:spcBef>
              <a:defRPr sz="1800"/>
            </a:pPr>
            <a:r>
              <a:t>✅ 15+ ana sayfa (Login, Events, Clubs, Admin Panel, vb.)</a:t>
            </a:r>
          </a:p>
          <a:p>
            <a:pPr>
              <a:spcBef>
                <a:spcPts val="600"/>
              </a:spcBef>
              <a:defRPr sz="1800"/>
            </a:pPr>
            <a:r>
              <a:t>✅ Context API ile global state management (Auth, Language)</a:t>
            </a:r>
          </a:p>
          <a:p>
            <a:pPr>
              <a:spcBef>
                <a:spcPts val="600"/>
              </a:spcBef>
              <a:defRPr sz="1800"/>
            </a:pPr>
            <a:r>
              <a:t>✅ Responsive tasarım - Mobile, Tablet, Desktop</a:t>
            </a:r>
          </a:p>
          <a:p>
            <a:pPr>
              <a:spcBef>
                <a:spcPts val="600"/>
              </a:spcBef>
              <a:defRPr sz="1800"/>
            </a:pPr>
            <a:r>
              <a:t>✅ Form validation ve error handling</a:t>
            </a:r>
          </a:p>
          <a:p>
            <a:pPr>
              <a:spcBef>
                <a:spcPts val="600"/>
              </a:spcBef>
              <a:defRPr sz="1800"/>
            </a:pPr>
            <a:r>
              <a:t>✅ Toast notifications (react-hot-toast)</a:t>
            </a:r>
          </a:p>
          <a:p>
            <a:pPr>
              <a:spcBef>
                <a:spcPts val="600"/>
              </a:spcBef>
              <a:defRPr sz="1800"/>
            </a:pPr>
            <a:r>
              <a:t>✅ i18n - 3 dil desteği (TR/EN/FR), localStorage persistence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Önemli Özellikler - Detay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Etkinlik Özellikleri</a:t>
            </a:r>
          </a:p>
          <a:p>
            <a:pPr>
              <a:spcBef>
                <a:spcPts val="400"/>
              </a:spcBef>
              <a:defRPr sz="1600"/>
            </a:pPr>
            <a:r>
              <a:t>• Event Creation: Form validation, room selection, capacity limits</a:t>
            </a:r>
          </a:p>
          <a:p>
            <a:pPr>
              <a:spcBef>
                <a:spcPts val="400"/>
              </a:spcBef>
              <a:defRPr sz="1600"/>
            </a:pPr>
            <a:r>
              <a:t>• Event Approval: Advisor panel, approve/reject with reason</a:t>
            </a:r>
          </a:p>
          <a:p>
            <a:pPr>
              <a:spcBef>
                <a:spcPts val="400"/>
              </a:spcBef>
              <a:defRPr sz="1600"/>
            </a:pPr>
            <a:r>
              <a:t>• Event Registration: One-click register, capacity check</a:t>
            </a:r>
          </a:p>
          <a:p>
            <a:pPr>
              <a:spcBef>
                <a:spcPts val="400"/>
              </a:spcBef>
              <a:defRPr sz="1600"/>
            </a:pPr>
            <a:r>
              <a:t>• Event Cancellation: Background task (ARQ), bulk notifications</a:t>
            </a:r>
          </a:p>
          <a:p>
            <a:pPr>
              <a:spcBef>
                <a:spcPts val="400"/>
              </a:spcBef>
              <a:defRPr sz="1600"/>
            </a:pPr>
            <a:r>
              <a:t>• Event Reminders: Daily cron job (3-day advance notice)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Sistem Özellikleri</a:t>
            </a:r>
          </a:p>
          <a:p>
            <a:pPr>
              <a:spcBef>
                <a:spcPts val="400"/>
              </a:spcBef>
              <a:defRPr sz="1600"/>
            </a:pPr>
            <a:r>
              <a:t>• Room Scheduling: Weekly view, conflict detection, capacity-based recommendations</a:t>
            </a:r>
          </a:p>
          <a:p>
            <a:pPr>
              <a:spcBef>
                <a:spcPts val="400"/>
              </a:spcBef>
              <a:defRPr sz="1600"/>
            </a:pPr>
            <a:r>
              <a:t>• Club Management: Member requests, approve/reject, follower system</a:t>
            </a:r>
          </a:p>
          <a:p>
            <a:pPr>
              <a:spcBef>
                <a:spcPts val="400"/>
              </a:spcBef>
              <a:defRPr sz="1600"/>
            </a:pPr>
            <a:r>
              <a:t>• User Management: Admin panel, role editing, filtering</a:t>
            </a:r>
          </a:p>
          <a:p>
            <a:pPr>
              <a:spcBef>
                <a:spcPts val="400"/>
              </a:spcBef>
              <a:defRPr sz="1600"/>
            </a:pPr>
            <a:r>
              <a:t>• Notifications: 8 types, read/unread status, event linking</a:t>
            </a:r>
          </a:p>
          <a:p>
            <a:pPr>
              <a:spcBef>
                <a:spcPts val="400"/>
              </a:spcBef>
              <a:defRPr sz="1600"/>
            </a:pPr>
            <a:r>
              <a:t>• Multi-language: Dynamic switching, all UI elements translated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Güvenlik Gerçekleştirimi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🔐 JWT Authentication - Stateless, token-based authentication</a:t>
            </a:r>
          </a:p>
          <a:p>
            <a:pPr>
              <a:spcBef>
                <a:spcPts val="600"/>
              </a:spcBef>
              <a:defRPr sz="1800"/>
            </a:pPr>
            <a:r>
              <a:t>🔑 Password Security - Bcrypt hashing (salt + hash)</a:t>
            </a:r>
          </a:p>
          <a:p>
            <a:pPr>
              <a:spcBef>
                <a:spcPts val="600"/>
              </a:spcBef>
              <a:defRPr sz="1800"/>
            </a:pPr>
            <a:r>
              <a:t>🛡️ RBAC (Role-Based Access Control) - 4 seviye yetkilendirme</a:t>
            </a:r>
          </a:p>
          <a:p>
            <a:pPr>
              <a:spcBef>
                <a:spcPts val="600"/>
              </a:spcBef>
              <a:defRPr sz="1800"/>
            </a:pPr>
            <a:r>
              <a:t>🚫 SQL Injection Prevention - SQLAlchemy ORM (parametrized queries)</a:t>
            </a:r>
          </a:p>
          <a:p>
            <a:pPr>
              <a:spcBef>
                <a:spcPts val="600"/>
              </a:spcBef>
              <a:defRPr sz="1800"/>
            </a:pPr>
            <a:r>
              <a:t>🛡️ XSS Protection - React built-in escaping</a:t>
            </a:r>
          </a:p>
          <a:p>
            <a:pPr>
              <a:spcBef>
                <a:spcPts val="600"/>
              </a:spcBef>
              <a:defRPr sz="1800"/>
            </a:pPr>
            <a:r>
              <a:t>🔒 CORS Policy - Configured for security</a:t>
            </a:r>
          </a:p>
          <a:p>
            <a:pPr>
              <a:spcBef>
                <a:spcPts val="600"/>
              </a:spcBef>
              <a:defRPr sz="1800"/>
            </a:pPr>
            <a:r>
              <a:t>✅ Input Validation - Pydantic schemas ile tüm endpoint'lerde</a:t>
            </a:r>
          </a:p>
          <a:p>
            <a:pPr>
              <a:spcBef>
                <a:spcPts val="600"/>
              </a:spcBef>
              <a:defRPr sz="1800"/>
            </a:pPr>
            <a:r>
              <a:t>📋 Foreign Key Constraints - Database integrity enforcement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Background Task Processing (ARQ)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✅ Redis-based async queue (ARQ 0.26.1)</a:t>
            </a:r>
          </a:p>
          <a:p>
            <a:pPr>
              <a:spcBef>
                <a:spcPts val="600"/>
              </a:spcBef>
              <a:defRPr sz="1800"/>
            </a:pPr>
            <a:r>
              <a:t>✅ Worker process - 5 functions, 10 max concurrent jobs</a:t>
            </a:r>
          </a:p>
          <a:p>
            <a:pPr>
              <a:spcBef>
                <a:spcPts val="600"/>
              </a:spcBef>
              <a:defRPr sz="1800"/>
            </a:pPr>
            <a:r>
              <a:t>✅ Event Cancellation Notifications - Async, non-blocking</a:t>
            </a:r>
          </a:p>
          <a:p>
            <a:pPr>
              <a:spcBef>
                <a:spcPts val="600"/>
              </a:spcBef>
              <a:defRPr sz="1800"/>
            </a:pPr>
            <a:r>
              <a:t>   → 100+ users: Response time &lt;100ms (was ~5 seconds)</a:t>
            </a:r>
          </a:p>
          <a:p>
            <a:pPr>
              <a:spcBef>
                <a:spcPts val="600"/>
              </a:spcBef>
              <a:defRPr sz="1800"/>
            </a:pPr>
            <a:r>
              <a:t>✅ Event Reminder Notifications - Scheduled daily at 9 AM</a:t>
            </a:r>
          </a:p>
          <a:p>
            <a:pPr>
              <a:spcBef>
                <a:spcPts val="600"/>
              </a:spcBef>
              <a:defRPr sz="1800"/>
            </a:pPr>
            <a:r>
              <a:t>   → Finds events 2.5-3.5 days away, sends reminders</a:t>
            </a:r>
          </a:p>
          <a:p>
            <a:pPr>
              <a:spcBef>
                <a:spcPts val="600"/>
              </a:spcBef>
              <a:defRPr sz="1800"/>
            </a:pPr>
            <a:r>
              <a:t>✅ Cron Jobs - ARQ cron decorator (@cron)</a:t>
            </a:r>
          </a:p>
          <a:p>
            <a:pPr>
              <a:spcBef>
                <a:spcPts val="600"/>
              </a:spcBef>
              <a:defRPr sz="1800"/>
            </a:pPr>
            <a:r>
              <a:t>✅ Job Retention - Results kept for 1 hour</a:t>
            </a:r>
          </a:p>
          <a:p>
            <a:pPr>
              <a:spcBef>
                <a:spcPts val="600"/>
              </a:spcBef>
              <a:defRPr sz="1800"/>
            </a:pPr>
            <a:r>
              <a:t>✅ Health Checks - Redis connection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Karşılaşılan Zorluklar ve Çözümler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Teknik Zorluklar</a:t>
            </a:r>
          </a:p>
          <a:p>
            <a:pPr>
              <a:spcBef>
                <a:spcPts val="400"/>
              </a:spcBef>
              <a:defRPr sz="1600"/>
            </a:pPr>
            <a:r>
              <a:t>• Room scheduling conflicts → Overlap detection algorithm</a:t>
            </a:r>
          </a:p>
          <a:p>
            <a:pPr>
              <a:spcBef>
                <a:spcPts val="400"/>
              </a:spcBef>
              <a:defRPr sz="1600"/>
            </a:pPr>
            <a:r>
              <a:t>• Event capacity management → Database constraints + validation</a:t>
            </a:r>
          </a:p>
          <a:p>
            <a:pPr>
              <a:spcBef>
                <a:spcPts val="400"/>
              </a:spcBef>
              <a:defRPr sz="1600"/>
            </a:pPr>
            <a:r>
              <a:t>• Performance (100+ notifications) → ARQ background tasks</a:t>
            </a:r>
          </a:p>
          <a:p>
            <a:pPr>
              <a:spcBef>
                <a:spcPts val="400"/>
              </a:spcBef>
              <a:defRPr sz="1600"/>
            </a:pPr>
            <a:r>
              <a:t>• Role-based access → Decorator-based RBAC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A90432"/>
                </a:solidFill>
              </a:defRPr>
            </a:pPr>
            <a:r>
              <a:t>Uygulama Zorlukları</a:t>
            </a:r>
          </a:p>
          <a:p>
            <a:pPr>
              <a:spcBef>
                <a:spcPts val="400"/>
              </a:spcBef>
              <a:defRPr sz="1600"/>
            </a:pPr>
            <a:r>
              <a:t>• Multi-language support → Context API + localStorage</a:t>
            </a:r>
          </a:p>
          <a:p>
            <a:pPr>
              <a:spcBef>
                <a:spcPts val="400"/>
              </a:spcBef>
              <a:defRPr sz="1600"/>
            </a:pPr>
            <a:r>
              <a:t>• Database migrations → Alembic version control</a:t>
            </a:r>
          </a:p>
          <a:p>
            <a:pPr>
              <a:spcBef>
                <a:spcPts val="400"/>
              </a:spcBef>
              <a:defRPr sz="1600"/>
            </a:pPr>
            <a:r>
              <a:t>• Docker networking → Docker Compose service dependencies</a:t>
            </a:r>
          </a:p>
          <a:p>
            <a:pPr>
              <a:spcBef>
                <a:spcPts val="400"/>
              </a:spcBef>
              <a:defRPr sz="1600"/>
            </a:pPr>
            <a:r>
              <a:t>• Worker startup issues → ARQ CLI wrapper 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Test ve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🐳 Docker Containerization - 5 containers (frontend, backend, db, redis, worker)</a:t>
            </a:r>
          </a:p>
          <a:p>
            <a:pPr>
              <a:spcBef>
                <a:spcPts val="600"/>
              </a:spcBef>
              <a:defRPr sz="1800"/>
            </a:pPr>
            <a:r>
              <a:t>📦 Docker Compose Orchestration - Service dependencies, networks, volumes</a:t>
            </a:r>
          </a:p>
          <a:p>
            <a:pPr>
              <a:spcBef>
                <a:spcPts val="600"/>
              </a:spcBef>
              <a:defRPr sz="1800"/>
            </a:pPr>
            <a:r>
              <a:t>🔄 Development Workflow - Hot reload (Vite + Uvicorn)</a:t>
            </a:r>
          </a:p>
          <a:p>
            <a:pPr>
              <a:spcBef>
                <a:spcPts val="600"/>
              </a:spcBef>
              <a:defRPr sz="1800"/>
            </a:pPr>
            <a:r>
              <a:t>🗄️ Database Migrations - Alembic (version-controlled schema)</a:t>
            </a:r>
          </a:p>
          <a:p>
            <a:pPr>
              <a:spcBef>
                <a:spcPts val="600"/>
              </a:spcBef>
              <a:defRPr sz="1800"/>
            </a:pPr>
            <a:r>
              <a:t>✅ API Testing - Swagger UI (/docs endpoint)</a:t>
            </a:r>
          </a:p>
          <a:p>
            <a:pPr>
              <a:spcBef>
                <a:spcPts val="600"/>
              </a:spcBef>
              <a:defRPr sz="1800"/>
            </a:pPr>
            <a:r>
              <a:t>🏥 Health Checks - Database + Redis connection monitoring</a:t>
            </a:r>
          </a:p>
          <a:p>
            <a:pPr>
              <a:spcBef>
                <a:spcPts val="600"/>
              </a:spcBef>
              <a:defRPr sz="1800"/>
            </a:pPr>
            <a:r>
              <a:t>📝 API Documentation - OpenAPI/Swagger auto-generated</a:t>
            </a:r>
          </a:p>
          <a:p>
            <a:pPr>
              <a:spcBef>
                <a:spcPts val="600"/>
              </a:spcBef>
              <a:defRPr sz="1800"/>
            </a:pPr>
            <a:r>
              <a:t>🚀 Production Ready - Environment-based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Sonuçlar ve Başarılar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✅ Fully functional club and event management platform</a:t>
            </a:r>
          </a:p>
          <a:p>
            <a:pPr>
              <a:spcBef>
                <a:spcPts val="600"/>
              </a:spcBef>
              <a:defRPr sz="1800"/>
            </a:pPr>
            <a:r>
              <a:t>✅ Complete 3-tier architecture implementation</a:t>
            </a:r>
          </a:p>
          <a:p>
            <a:pPr>
              <a:spcBef>
                <a:spcPts val="600"/>
              </a:spcBef>
              <a:defRPr sz="1800"/>
            </a:pPr>
            <a:r>
              <a:t>✅ 10-table normalized database with proper relationships</a:t>
            </a:r>
          </a:p>
          <a:p>
            <a:pPr>
              <a:spcBef>
                <a:spcPts val="600"/>
              </a:spcBef>
              <a:defRPr sz="1800"/>
            </a:pPr>
            <a:r>
              <a:t>✅ Async background processing for scalability</a:t>
            </a:r>
          </a:p>
          <a:p>
            <a:pPr>
              <a:spcBef>
                <a:spcPts val="600"/>
              </a:spcBef>
              <a:defRPr sz="1800"/>
            </a:pPr>
            <a:r>
              <a:t>✅ Comprehensive security implementation</a:t>
            </a:r>
          </a:p>
          <a:p>
            <a:pPr>
              <a:spcBef>
                <a:spcPts val="600"/>
              </a:spcBef>
              <a:defRPr sz="1800"/>
            </a:pPr>
            <a:r>
              <a:t>✅ Modern, responsive UI with multi-language support</a:t>
            </a:r>
          </a:p>
          <a:p>
            <a:pPr>
              <a:spcBef>
                <a:spcPts val="600"/>
              </a:spcBef>
              <a:defRPr sz="1800"/>
            </a:pPr>
            <a:r>
              <a:t>✅ Dockerized deployment for easy setup</a:t>
            </a:r>
          </a:p>
          <a:p>
            <a:pPr>
              <a:spcBef>
                <a:spcPts val="600"/>
              </a:spcBef>
              <a:defRPr sz="1800"/>
            </a:pPr>
            <a:r>
              <a:t>✅ Well-documented API (OpenAPI/Swagger)</a:t>
            </a:r>
          </a:p>
          <a:p>
            <a:pPr>
              <a:spcBef>
                <a:spcPts val="600"/>
              </a:spcBef>
              <a:defRPr sz="1800"/>
            </a:pPr>
            <a:r>
              <a:t>🎯 Ready for pilot testing with real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A90432"/>
                </a:solidFill>
              </a:defRPr>
            </a:pPr>
            <a:r>
              <a:t>Gelecek Geliştirmeler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📱 Mobile Application - React Native or PWA enhancement</a:t>
            </a:r>
          </a:p>
          <a:p>
            <a:pPr>
              <a:spcBef>
                <a:spcPts val="600"/>
              </a:spcBef>
              <a:defRPr sz="1800"/>
            </a:pPr>
            <a:r>
              <a:t>🤖 AI-powered Event Recommendations - Machine learning based on user preferences</a:t>
            </a:r>
          </a:p>
          <a:p>
            <a:pPr>
              <a:spcBef>
                <a:spcPts val="600"/>
              </a:spcBef>
              <a:defRPr sz="1800"/>
            </a:pPr>
            <a:r>
              <a:t>📊 Advanced Analytics Dashboard - Club performance metrics, attendance trends</a:t>
            </a:r>
          </a:p>
          <a:p>
            <a:pPr>
              <a:spcBef>
                <a:spcPts val="600"/>
              </a:spcBef>
              <a:defRPr sz="1800"/>
            </a:pPr>
            <a:r>
              <a:t>🔔 Push Notifications - Web push for real-time updates</a:t>
            </a:r>
          </a:p>
          <a:p>
            <a:pPr>
              <a:spcBef>
                <a:spcPts val="600"/>
              </a:spcBef>
              <a:defRPr sz="1800"/>
            </a:pPr>
            <a:r>
              <a:t>📧 Email Integration - Automated email notifications</a:t>
            </a:r>
          </a:p>
          <a:p>
            <a:pPr>
              <a:spcBef>
                <a:spcPts val="600"/>
              </a:spcBef>
              <a:defRPr sz="1800"/>
            </a:pPr>
            <a:r>
              <a:t>🌐 Social Media Integration - Share events to social platforms</a:t>
            </a:r>
          </a:p>
          <a:p>
            <a:pPr>
              <a:spcBef>
                <a:spcPts val="600"/>
              </a:spcBef>
              <a:defRPr sz="1800"/>
            </a:pPr>
            <a:r>
              <a:t>📅 Calendar Integration - Export to Google Calendar, iCal</a:t>
            </a:r>
          </a:p>
          <a:p>
            <a:pPr>
              <a:spcBef>
                <a:spcPts val="600"/>
              </a:spcBef>
              <a:defRPr sz="1800"/>
            </a:pPr>
            <a:r>
              <a:t>🧪 Automated Testing - Unit tests, integration tests, E2E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Proje Zaman Planı (Gantt)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2253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12 haftalık geliştirme süreci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Kalite Evi (QFD)</a:t>
            </a:r>
          </a:p>
        </p:txBody>
      </p:sp>
      <p:pic>
        <p:nvPicPr>
          <p:cNvPr id="3" name="Picture 2" descr="q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6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Kullanıcı ihtiyaçlarından teknik gereksinimlere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90432"/>
                </a:solidFill>
              </a:defRPr>
            </a:pPr>
            <a:r>
              <a:t>Proje Akış Diyagramı</a:t>
            </a:r>
          </a:p>
        </p:txBody>
      </p:sp>
      <p:pic>
        <p:nvPicPr>
          <p:cNvPr id="3" name="Picture 2" descr="proje-akis-diyagr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5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İteratif geliştirme süreci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A90432"/>
                </a:solidFill>
              </a:defRPr>
            </a:pPr>
            <a:r>
              <a:t>Teşekkürler!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Sorularınız için hazırız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Galatasaray Üniversitesi</a:t>
            </a:r>
          </a:p>
          <a:p>
            <a:r>
              <a:t>Mühendislik ve Teknoloji Fakültesi</a:t>
            </a:r>
          </a:p>
          <a:p>
            <a:r>
              <a:t>INF493 Bitirme Projesi - Aralık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